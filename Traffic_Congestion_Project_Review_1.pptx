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3"/>
  </p:notesMasterIdLst>
  <p:handoutMasterIdLst>
    <p:handoutMasterId r:id="rId14"/>
  </p:handoutMasterIdLst>
  <p:sldIdLst>
    <p:sldId id="258" r:id="rId3"/>
    <p:sldId id="391" r:id="rId4"/>
    <p:sldId id="392" r:id="rId5"/>
    <p:sldId id="393" r:id="rId6"/>
    <p:sldId id="394" r:id="rId7"/>
    <p:sldId id="395" r:id="rId8"/>
    <p:sldId id="396" r:id="rId9"/>
    <p:sldId id="397" r:id="rId10"/>
    <p:sldId id="374" r:id="rId11"/>
    <p:sldId id="33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79D78E-41F3-A1F4-EC04-02F424684A7A}" name="usha rani" initials="ur" userId="ac3da7c9ac03e58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370" autoAdjust="0"/>
    <p:restoredTop sz="95033" autoAdjust="0"/>
  </p:normalViewPr>
  <p:slideViewPr>
    <p:cSldViewPr snapToGrid="0" snapToObjects="1">
      <p:cViewPr>
        <p:scale>
          <a:sx n="78" d="100"/>
          <a:sy n="78" d="100"/>
        </p:scale>
        <p:origin x="57" y="309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009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xmanreddypabbathi547@outlook.com" userId="8344d7f7ac5bab73" providerId="LiveId" clId="{23D34FFB-3645-4461-94DB-DC034028C093}"/>
    <pc:docChg chg="undo custSel addSld delSld">
      <pc:chgData name="laxmanreddypabbathi547@outlook.com" userId="8344d7f7ac5bab73" providerId="LiveId" clId="{23D34FFB-3645-4461-94DB-DC034028C093}" dt="2026-08-31T04:00:24.704" v="5" actId="2696"/>
      <pc:docMkLst>
        <pc:docMk/>
      </pc:docMkLst>
      <pc:sldChg chg="del">
        <pc:chgData name="laxmanreddypabbathi547@outlook.com" userId="8344d7f7ac5bab73" providerId="LiveId" clId="{23D34FFB-3645-4461-94DB-DC034028C093}" dt="2026-08-31T04:00:24.704" v="5" actId="2696"/>
        <pc:sldMkLst>
          <pc:docMk/>
          <pc:sldMk cId="1183936719" sldId="377"/>
        </pc:sldMkLst>
      </pc:sldChg>
      <pc:sldChg chg="add del">
        <pc:chgData name="laxmanreddypabbathi547@outlook.com" userId="8344d7f7ac5bab73" providerId="LiveId" clId="{23D34FFB-3645-4461-94DB-DC034028C093}" dt="2026-08-31T03:58:33.349" v="2" actId="2696"/>
        <pc:sldMkLst>
          <pc:docMk/>
          <pc:sldMk cId="2402079705" sldId="396"/>
        </pc:sldMkLst>
      </pc:sldChg>
      <pc:sldChg chg="add del">
        <pc:chgData name="laxmanreddypabbathi547@outlook.com" userId="8344d7f7ac5bab73" providerId="LiveId" clId="{23D34FFB-3645-4461-94DB-DC034028C093}" dt="2026-08-31T03:58:42.994" v="4" actId="2696"/>
        <pc:sldMkLst>
          <pc:docMk/>
          <pc:sldMk cId="1063077158" sldId="39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2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9486-861A-2ECA-4D40-39E5F67E8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5A513-C79F-B540-0019-433BDBACF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0A3D1-26CD-4F17-E4CA-311B4310E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467B8-2D06-EBB4-C77E-EA980BEAC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947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4FB51-0CCD-7E30-006C-24572EE0C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5B3405-B72E-77E8-AC88-39C8BF27F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47CED-38BD-61BC-C289-9935025A3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F3921-5CCB-99B2-BEAE-679945FC1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06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1CFD8-ECD5-0783-2AB0-ACFC3273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7F17B-D2F6-662D-52FF-83B2BA2D2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5DD85-E53A-AA51-8A24-6FD75FA0A7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C8F9F-8E69-312B-01C2-05B902ACF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78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A3961-5DE8-686E-3894-1EC4CE358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96716B-DE78-BE6A-065C-700B8CB01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C432-4A58-F09A-00A6-554859B76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4D428-282E-3F76-CEAD-7497380C2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594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577CB-4429-8372-ECF7-B3B85B0AA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E879B-CAC4-B338-544C-CF4E8482F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C0575-544B-58B3-87C9-8D914A1D0D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215F5-CFE1-7F26-9CD8-10AC46663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44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44B66-EC91-2BD6-7D3F-FB9E75F43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10EFCE-537F-8314-27E9-BA17DC423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71D28A-95EE-C579-9938-AA5724487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A88E0-9C15-85FD-D2EF-741091DD3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4067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A88E8-8740-3949-BE64-BB62EA08D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22BF00-6CFB-1C09-C3B7-8F0F835403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9D5D7B-5FA1-6B53-71F8-A93818030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3D1A-5BCA-DD1F-4EB8-C6373CACA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928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A504A-D052-4F2D-906E-4CCCD67E5352}" type="datetime1">
              <a:rPr lang="en-IN" smtClean="0"/>
              <a:t>31-08-2026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  <a:t>31-08-2026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8B550-430E-4E00-8584-398912EDCDA8}" type="datetime1">
              <a:rPr lang="en-IN" smtClean="0"/>
              <a:t>31-08-2026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15C1-FC0C-48DC-AA13-5A7440F04A46}" type="datetime1">
              <a:rPr lang="en-IN" smtClean="0"/>
              <a:t>31-08-2026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A9D0-F765-45B1-928F-556B91D2C522}" type="datetime1">
              <a:rPr lang="en-IN" smtClean="0"/>
              <a:t>31-08-2026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F3-7E24-4BDE-BB37-BD18A6966701}" type="datetime1">
              <a:rPr lang="en-IN" smtClean="0"/>
              <a:t>31-08-2026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3449-4DF0-4F1F-A3E4-097B1714C7C4}" type="datetime1">
              <a:rPr lang="en-IN" smtClean="0"/>
              <a:t>31-08-2026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166F-CD67-4CEB-8DD7-1E38016562AC}" type="datetime1">
              <a:rPr lang="en-IN" smtClean="0"/>
              <a:t>31-08-2026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F83E-6F8A-4D66-8D97-D167DE305BE2}" type="datetime1">
              <a:rPr lang="en-IN" smtClean="0"/>
              <a:t>31-08-2026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3A21-9775-4B2C-9B39-32116406212C}" type="datetime1">
              <a:rPr lang="en-IN" smtClean="0"/>
              <a:t>31-08-2026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BDC8-9AAF-4B62-9540-4EA826AA678B}" type="datetime1">
              <a:rPr lang="en-IN" smtClean="0"/>
              <a:t>31-08-2026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21C3-0F1A-498D-9F2E-D10FACA35B86}" type="datetime1">
              <a:rPr lang="en-IN" smtClean="0"/>
              <a:t>31-08-2026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A7DA-FCDD-43FA-8A0C-6A5B2B391695}" type="datetime1">
              <a:rPr lang="en-IN" smtClean="0"/>
              <a:t>31-08-2026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D4BE-274D-4073-90F9-6DE45B427D7A}" type="datetime1">
              <a:rPr lang="en-IN" smtClean="0"/>
              <a:t>31-08-2026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2526-BF89-47C7-96E6-5B804E43EF11}" type="datetime1">
              <a:rPr lang="en-IN" smtClean="0"/>
              <a:t>31-08-2026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7929-B24E-4CA0-A508-395AF785C673}" type="datetime1">
              <a:rPr lang="en-IN" smtClean="0"/>
              <a:t>31-08-2026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717A7-838C-4809-BC62-F129B310B950}" type="datetime1">
              <a:rPr lang="en-IN" smtClean="0"/>
              <a:t>31-08-2026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DB2A2-8993-4CD1-B936-8FCCA45C385B}" type="datetime1">
              <a:rPr lang="en-IN" smtClean="0"/>
              <a:t>31-08-2026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08" y="587309"/>
            <a:ext cx="10392383" cy="471063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sz="2500" b="1">
                <a:solidFill>
                  <a:srgbClr val="0070C0"/>
                </a:solidFill>
                <a:latin typeface="Arial"/>
              </a:rPr>
              <a:t>TRAFFIC CONGESTION LEVEL PREDICTION USING RANDOM FOREST AND GRADIENT-BOOSTED TREES</a:t>
            </a:r>
            <a:endParaRPr lang="en-US" sz="2400" b="1" dirty="0">
              <a:solidFill>
                <a:srgbClr val="011893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4F28400-FDB5-158C-D317-153E1B1CD072}"/>
              </a:ext>
            </a:extLst>
          </p:cNvPr>
          <p:cNvSpPr txBox="1">
            <a:spLocks/>
          </p:cNvSpPr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8465D1-CCC3-285A-3E29-8B23DC764FF6}"/>
              </a:ext>
            </a:extLst>
          </p:cNvPr>
          <p:cNvSpPr txBox="1">
            <a:spLocks/>
          </p:cNvSpPr>
          <p:nvPr/>
        </p:nvSpPr>
        <p:spPr>
          <a:xfrm>
            <a:off x="952500" y="3143780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Under the Guidance </a:t>
            </a:r>
          </a:p>
          <a:p>
            <a:pPr marL="0" indent="0" algn="ctr">
              <a:buNone/>
            </a:pPr>
            <a:r>
              <a:rPr lang="en-US" sz="2400" dirty="0"/>
              <a:t>of 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Dr. M Rani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and Engineering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864F2-F4A5-DC53-C4B3-F9C0A49E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C41FE-7D1F-E7DF-F0EB-DE18D395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040" y="4860024"/>
            <a:ext cx="2618924" cy="1243012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5C1A452-4633-BB68-A150-FAF552C36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8807864"/>
              </p:ext>
            </p:extLst>
          </p:nvPr>
        </p:nvGraphicFramePr>
        <p:xfrm>
          <a:off x="2032000" y="1680962"/>
          <a:ext cx="8128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4949112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783695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sz="1500">
                          <a:latin typeface="Arial"/>
                        </a:rPr>
                        <a:t>P.LAXMAN REDDY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latin typeface="Arial"/>
                        </a:rPr>
                        <a:t>2520030097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1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1500">
                          <a:latin typeface="Arial"/>
                        </a:rPr>
                        <a:t>R.VARSHITH REDDY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dirty="0">
                          <a:latin typeface="Arial"/>
                        </a:rPr>
                        <a:t>2520030250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438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554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400" b="1">
                <a:solidFill>
                  <a:srgbClr val="0070C0"/>
                </a:solidFill>
                <a:latin typeface="Arial"/>
              </a:rPr>
              <a:t>ABSTRACT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dirty="0">
                <a:solidFill>
                  <a:srgbClr val="232323"/>
                </a:solidFill>
                <a:latin typeface="Arial"/>
              </a:rPr>
              <a:t>Traffic congestion is a major urban problem that affects travel time, fuel consumption and road efficiency.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232323"/>
                </a:solidFill>
                <a:latin typeface="Arial"/>
              </a:rPr>
              <a:t>This project develops a machine learning based system to predict traffic congestion levels using historical and relevant traffic features.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232323"/>
                </a:solidFill>
                <a:latin typeface="Arial"/>
              </a:rPr>
              <a:t>Random Forest and Gradient-Boosted Trees are used as supervised learning models to learn patterns from traffic data and predict congestion levels.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232323"/>
                </a:solidFill>
                <a:latin typeface="Arial"/>
              </a:rPr>
              <a:t>The predicted congestion level can support better traffic monitoring and informed transportation decisions.</a:t>
            </a:r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C98CD-164D-D85C-3C57-86DE945BC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67F0A-F575-131F-4FAD-BB774017A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400" b="1">
                <a:solidFill>
                  <a:srgbClr val="0070C0"/>
                </a:solidFill>
                <a:latin typeface="Arial"/>
              </a:rPr>
              <a:t>INTRODUCTION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EFBF-E399-A1D2-ED5E-57C497A79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5F5E2-7F9E-F67E-1C1D-E2C463D8F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32323"/>
                </a:solidFill>
                <a:latin typeface="Arial"/>
              </a:rPr>
              <a:t>Increasing traffic volume creates congestion, delays and inefficient utilization of road infrastructure.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32323"/>
                </a:solidFill>
                <a:latin typeface="Arial"/>
              </a:rPr>
              <a:t>Machine learning can identify patterns in historical traffic information and provide data-driven congestion predictions.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32323"/>
                </a:solidFill>
                <a:latin typeface="Arial"/>
              </a:rPr>
              <a:t>This project focuses on Random Forest and Gradient-Boosted Trees because tree-based ensemble methods can model non-linear relationships and feature interactions.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32323"/>
                </a:solidFill>
                <a:latin typeface="Arial"/>
              </a:rPr>
              <a:t>The system aims to provide a practical prediction approach for traffic congestion monitoring.</a:t>
            </a:r>
          </a:p>
        </p:txBody>
      </p:sp>
    </p:spTree>
    <p:extLst>
      <p:ext uri="{BB962C8B-B14F-4D97-AF65-F5344CB8AC3E}">
        <p14:creationId xmlns:p14="http://schemas.microsoft.com/office/powerpoint/2010/main" val="2105092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8186F-83EF-F797-3CF5-E0EB652B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DAA0-09CB-B341-1C09-04229CE69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400" b="1">
                <a:solidFill>
                  <a:srgbClr val="0070C0"/>
                </a:solidFill>
                <a:latin typeface="Arial"/>
              </a:rPr>
              <a:t>EXISTING SYSTEM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FD481-001E-20A8-DE67-D9A84959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6E39B-0946-7E2E-7624-441AA6BEE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32323"/>
                </a:solidFill>
                <a:latin typeface="Arial"/>
              </a:rPr>
              <a:t>Traditional traffic monitoring mainly depends on manual observation, fixed traffic measurements and rule-based analysis.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32323"/>
                </a:solidFill>
                <a:latin typeface="Arial"/>
              </a:rPr>
              <a:t>Many conventional approaches have limited ability to learn complex relationships between multiple traffic features.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32323"/>
                </a:solidFill>
                <a:latin typeface="Arial"/>
              </a:rPr>
              <a:t>Separate monitoring and prediction processes can make congestion analysis less adaptive.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32323"/>
                </a:solidFill>
                <a:latin typeface="Arial"/>
              </a:rPr>
              <a:t>There is a need for a data-driven approach that can learn from historical traffic patterns.</a:t>
            </a:r>
          </a:p>
        </p:txBody>
      </p:sp>
    </p:spTree>
    <p:extLst>
      <p:ext uri="{BB962C8B-B14F-4D97-AF65-F5344CB8AC3E}">
        <p14:creationId xmlns:p14="http://schemas.microsoft.com/office/powerpoint/2010/main" val="3485086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7D086-C570-6965-FE9B-0BC9CC8DC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9E69-F203-A171-A5A3-B886BB15A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400" b="1">
                <a:solidFill>
                  <a:srgbClr val="0070C0"/>
                </a:solidFill>
                <a:latin typeface="Arial"/>
              </a:rPr>
              <a:t>PROBLEM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7E664-BF08-3F4A-316F-C5F90E27A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522F1-A86A-A779-FD8E-AD3FAD01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32323"/>
                </a:solidFill>
                <a:latin typeface="Arial"/>
              </a:rPr>
              <a:t>Traffic congestion varies with time, location, traffic volume and other road conditions.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32323"/>
                </a:solidFill>
                <a:latin typeface="Arial"/>
              </a:rPr>
              <a:t>The major challenges include: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32323"/>
                </a:solidFill>
                <a:latin typeface="Arial"/>
              </a:rPr>
              <a:t>• Difficulty in accurately predicting changing congestion levels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32323"/>
                </a:solidFill>
                <a:latin typeface="Arial"/>
              </a:rPr>
              <a:t>• Complex relationships among traffic-related features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32323"/>
                </a:solidFill>
                <a:latin typeface="Arial"/>
              </a:rPr>
              <a:t>• Delays caused by unexpected traffic conditions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32323"/>
                </a:solidFill>
                <a:latin typeface="Arial"/>
              </a:rPr>
              <a:t>• Need for reliable data-driven congestion prediction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32323"/>
                </a:solidFill>
                <a:latin typeface="Arial"/>
              </a:rPr>
              <a:t>• Comparing suitable machine learning models for prediction</a:t>
            </a:r>
          </a:p>
        </p:txBody>
      </p:sp>
    </p:spTree>
    <p:extLst>
      <p:ext uri="{BB962C8B-B14F-4D97-AF65-F5344CB8AC3E}">
        <p14:creationId xmlns:p14="http://schemas.microsoft.com/office/powerpoint/2010/main" val="2029224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1D2BB-24DC-B783-7CA6-93F4D0FDD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7F70-D950-780B-9427-7B1B3DAFF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400" b="1">
                <a:solidFill>
                  <a:srgbClr val="0070C0"/>
                </a:solidFill>
                <a:latin typeface="Arial"/>
              </a:rPr>
              <a:t>SOLUTION(Contribution)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B14AD-C0C8-6663-E0C7-1AAF7B63E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A39EF-2DDE-9002-F716-F77A6113D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32323"/>
                </a:solidFill>
                <a:latin typeface="Arial"/>
              </a:rPr>
              <a:t>Develop a machine learning based traffic congestion prediction system.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32323"/>
                </a:solidFill>
                <a:latin typeface="Arial"/>
              </a:rPr>
              <a:t>Use data preprocessing and feature preparation before model training.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32323"/>
                </a:solidFill>
                <a:latin typeface="Arial"/>
              </a:rPr>
              <a:t>Train and compare Random Forest and Gradient-Boosted Trees models.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32323"/>
                </a:solidFill>
                <a:latin typeface="Arial"/>
              </a:rPr>
              <a:t>Evaluate model performance using suitable prediction and classification metrics.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32323"/>
                </a:solidFill>
                <a:latin typeface="Arial"/>
              </a:rPr>
              <a:t>Use the predicted congestion level to support traffic monitoring and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3949831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553A8-3533-6CAA-B371-DE8FA0254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2015-9851-BB00-C9BE-D0201418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400" b="1">
                <a:solidFill>
                  <a:srgbClr val="0070C0"/>
                </a:solidFill>
                <a:latin typeface="Arial"/>
              </a:rPr>
              <a:t>Objectives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106D5-4F08-32F7-69CA-DA0983824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2EE72-0990-73F7-3A95-5511C5AA0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32323"/>
                </a:solidFill>
                <a:latin typeface="Arial"/>
              </a:rPr>
              <a:t>• Analyze traffic-related data and identify important features.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32323"/>
                </a:solidFill>
                <a:latin typeface="Arial"/>
              </a:rPr>
              <a:t>• Preprocess the dataset for machine learning.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32323"/>
                </a:solidFill>
                <a:latin typeface="Arial"/>
              </a:rPr>
              <a:t>• Build a Random Forest prediction model.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32323"/>
                </a:solidFill>
                <a:latin typeface="Arial"/>
              </a:rPr>
              <a:t>• Build a Gradient-Boosted Trees prediction model.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32323"/>
                </a:solidFill>
                <a:latin typeface="Arial"/>
              </a:rPr>
              <a:t>• Compare the performance of the two models.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32323"/>
                </a:solidFill>
                <a:latin typeface="Arial"/>
              </a:rPr>
              <a:t>• Predict traffic congestion levels accurately and efficiently.</a:t>
            </a:r>
          </a:p>
        </p:txBody>
      </p:sp>
    </p:spTree>
    <p:extLst>
      <p:ext uri="{BB962C8B-B14F-4D97-AF65-F5344CB8AC3E}">
        <p14:creationId xmlns:p14="http://schemas.microsoft.com/office/powerpoint/2010/main" val="2402079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0D793-788A-0BBE-1A25-0D6B7B4B4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695C-2E9D-0BEB-6476-FC1A6852D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400" b="1">
                <a:solidFill>
                  <a:srgbClr val="0070C0"/>
                </a:solidFill>
                <a:latin typeface="Arial"/>
              </a:rPr>
              <a:t>SOFTWARE REQUIREMENTS</a:t>
            </a:r>
            <a:endParaRPr lang="en-IN" sz="3200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29F55-DE57-8408-42F6-4E0FBAB30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23B38-760E-3758-6704-655E2B69F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10149840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dirty="0">
                <a:solidFill>
                  <a:srgbClr val="232323"/>
                </a:solidFill>
                <a:latin typeface="Arial"/>
              </a:rPr>
              <a:t>Programming Language: Python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232323"/>
                </a:solidFill>
                <a:latin typeface="Arial"/>
              </a:rPr>
              <a:t>Machine Learning: Scikit-learn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232323"/>
                </a:solidFill>
                <a:latin typeface="Arial"/>
              </a:rPr>
              <a:t>Data Processing: Pandas, NumPy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232323"/>
                </a:solidFill>
                <a:latin typeface="Arial"/>
              </a:rPr>
              <a:t>Development Environment: Python IDE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232323"/>
                </a:solidFill>
                <a:latin typeface="Arial"/>
              </a:rPr>
              <a:t>Models: Random Forest and Gradient-Boosted Trees</a:t>
            </a:r>
          </a:p>
        </p:txBody>
      </p:sp>
    </p:spTree>
    <p:extLst>
      <p:ext uri="{BB962C8B-B14F-4D97-AF65-F5344CB8AC3E}">
        <p14:creationId xmlns:p14="http://schemas.microsoft.com/office/powerpoint/2010/main" val="1098968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5F8C2-111B-5352-5128-7126DF285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54D73-0C98-1BCC-AF71-A634817E2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869" y="283266"/>
            <a:ext cx="6564573" cy="805366"/>
          </a:xfrm>
        </p:spPr>
        <p:txBody>
          <a:bodyPr anchor="ctr">
            <a:noAutofit/>
          </a:bodyPr>
          <a:lstStyle/>
          <a:p>
            <a:r>
              <a:rPr sz="3400" b="1">
                <a:solidFill>
                  <a:srgbClr val="0070C0"/>
                </a:solidFill>
                <a:latin typeface="Arial"/>
              </a:rPr>
              <a:t>CONCLUSION AND FUTURE SCOPE</a:t>
            </a:r>
            <a:endParaRPr lang="en-US" sz="4000" b="1" dirty="0">
              <a:solidFill>
                <a:srgbClr val="0070C0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A0B0B4-0323-82D4-C481-9A75F01F0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961B71F-4B40-8942-BB88-E0F5C0B46E10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960120" y="169164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32323"/>
                </a:solidFill>
                <a:latin typeface="Arial"/>
              </a:rPr>
              <a:t>The project provides a machine learning approach for predicting traffic congestion levels using ensemble tree-based models.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32323"/>
                </a:solidFill>
                <a:latin typeface="Arial"/>
              </a:rPr>
              <a:t>Random Forest and Gradient-Boosted Trees can be trained and compared to identify an effective prediction model.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32323"/>
                </a:solidFill>
                <a:latin typeface="Arial"/>
              </a:rPr>
              <a:t>Future scope: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32323"/>
                </a:solidFill>
                <a:latin typeface="Arial"/>
              </a:rPr>
              <a:t>• Real-time traffic data integration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32323"/>
                </a:solidFill>
                <a:latin typeface="Arial"/>
              </a:rPr>
              <a:t>• Live congestion prediction dashboards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32323"/>
                </a:solidFill>
                <a:latin typeface="Arial"/>
              </a:rPr>
              <a:t>• Integration with GPS and IoT traffic sensors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32323"/>
                </a:solidFill>
                <a:latin typeface="Arial"/>
              </a:rPr>
              <a:t>• Model optimization for faster predictions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32323"/>
                </a:solidFill>
                <a:latin typeface="Arial"/>
              </a:rPr>
              <a:t>• Deployment as a web or mobile traffic monitoring application</a:t>
            </a:r>
          </a:p>
        </p:txBody>
      </p:sp>
    </p:spTree>
    <p:extLst>
      <p:ext uri="{BB962C8B-B14F-4D97-AF65-F5344CB8AC3E}">
        <p14:creationId xmlns:p14="http://schemas.microsoft.com/office/powerpoint/2010/main" val="1749009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3400" b="1">
                <a:solidFill>
                  <a:srgbClr val="0070C0"/>
                </a:solidFill>
                <a:latin typeface="Arial"/>
              </a:rPr>
              <a:t>THANK YOU</a:t>
            </a: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b="1" dirty="0">
                <a:solidFill>
                  <a:srgbClr val="0070C0"/>
                </a:solidFill>
              </a:rPr>
              <a:t>THANK YOU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8267</TotalTime>
  <Words>540</Words>
  <Application>Microsoft Office PowerPoint</Application>
  <PresentationFormat>Widescreen</PresentationFormat>
  <Paragraphs>95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Custom Design</vt:lpstr>
      <vt:lpstr>TRAFFIC CONGESTION LEVEL PREDICTION USING RANDOM FOREST AND GRADIENT-BOOSTED TREES</vt:lpstr>
      <vt:lpstr>ABSTRACT</vt:lpstr>
      <vt:lpstr>INTRODUCTION</vt:lpstr>
      <vt:lpstr>EXISTING SYSTEM</vt:lpstr>
      <vt:lpstr>PROBLEM</vt:lpstr>
      <vt:lpstr>SOLUTION(Contribution)</vt:lpstr>
      <vt:lpstr>Objectives</vt:lpstr>
      <vt:lpstr>SOFTWARE REQUIREMENTS</vt:lpstr>
      <vt:lpstr>CONCLUSION AND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laxmanreddypabbathi547@outlook.com</cp:lastModifiedBy>
  <cp:revision>95</cp:revision>
  <dcterms:created xsi:type="dcterms:W3CDTF">2022-05-20T10:20:31Z</dcterms:created>
  <dcterms:modified xsi:type="dcterms:W3CDTF">2026-08-31T04:00:35Z</dcterms:modified>
</cp:coreProperties>
</file>